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528988"/>
            <a:ext cx="2676525" cy="781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4690913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547961"/>
            <a:ext cx="3724275" cy="3714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148036"/>
            <a:ext cx="10401300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0F172A"/>
                </a:solidFill>
                <a:latin typeface="Space Grotesk"/>
              </a:rPr>
              <a:t>Internet Quality Predictor &amp; Root-Cause Classifier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477666"/>
            <a:ext cx="85725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Plus Jakarta Sans"/>
              </a:rPr>
              <a:t>A proactive machine learning framework for modeling network degradation, predicting connection drops, and diagnosing underlying root causes.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1671786"/>
            <a:ext cx="185737" cy="1333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19225" y="4709963"/>
            <a:ext cx="1670208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Saria Nayyar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9225" y="4929038"/>
            <a:ext cx="15906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Project Lead &amp; Developer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825" y="1563141"/>
            <a:ext cx="2038350" cy="371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2163216"/>
            <a:ext cx="11601450" cy="1226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b="1" sz="4200" i="0" u="none">
                <a:solidFill>
                  <a:srgbClr val="0F172A"/>
                </a:solidFill>
                <a:latin typeface="Space Grotesk"/>
              </a:rPr>
              <a:t>Turning Daily Frustration Into Machine Learning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151858"/>
            <a:ext cx="76200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475569"/>
                </a:solidFill>
                <a:latin typeface="Plus Jakarta Sans"/>
              </a:rPr>
              <a:t>Instead of guessing whether buffering is caused by Wi-Fi noise, ISP throttling, or bandwidth hogs, this project collects personal telemetry data to train intelligent predictive classifiers.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07418"/>
            <a:ext cx="5334000" cy="314220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207418"/>
            <a:ext cx="5334000" cy="31422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559843"/>
            <a:ext cx="4860607" cy="2847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42"/>
              </a:lnSpc>
            </a:pPr>
            <a:r>
              <a:rPr b="1" sz="1950" i="0" u="none">
                <a:solidFill>
                  <a:srgbClr val="1D4ED8"/>
                </a:solidFill>
                <a:latin typeface="Space Grotesk"/>
              </a:rPr>
              <a:t>The Everyday Annoyance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38925" y="2559843"/>
            <a:ext cx="4860607" cy="2847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42"/>
              </a:lnSpc>
            </a:pPr>
            <a:r>
              <a:rPr b="1" sz="1950" i="0" u="none">
                <a:solidFill>
                  <a:srgbClr val="1D4ED8"/>
                </a:solidFill>
                <a:latin typeface="Space Grotesk"/>
              </a:rPr>
              <a:t>The Data-Driven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0625" y="2996951"/>
            <a:ext cx="4362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Frequent internet slowdowns and drops interrupt remote study, work, and gaming.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0625" y="3663701"/>
            <a:ext cx="4362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Users lack visibility into the true failure domain (Local Wi-Fi vs. Router vs. ISP).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0625" y="4330451"/>
            <a:ext cx="4362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Traditional troubleshooting relies on blind restarts and subjective guesswork.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5625" y="2996951"/>
            <a:ext cx="4362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Automated logging of fine-grained network metrics over 1–2 full weeks.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5625" y="3663701"/>
            <a:ext cx="4362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Supervised and unsupervised ML models trained on real, self-collected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5625" y="4330451"/>
            <a:ext cx="4362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Early-warning alerts and automated diagnosis of connection degradation events.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76250"/>
            <a:ext cx="11601450" cy="3942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104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Problem &amp; Motivation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87049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3016001"/>
            <a:ext cx="13335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3682751"/>
            <a:ext cx="13335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4349501"/>
            <a:ext cx="133350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925" y="3016001"/>
            <a:ext cx="133350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925" y="3682751"/>
            <a:ext cx="133350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925" y="4349501"/>
            <a:ext cx="13335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600700" cy="3942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104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Automated Telemetry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71500" y="87049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2251174"/>
            <a:ext cx="5600700" cy="262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b="1" sz="1800" i="0" u="none">
                <a:solidFill>
                  <a:srgbClr val="1D4ED8"/>
                </a:solidFill>
                <a:latin typeface="Space Grotesk"/>
              </a:rPr>
              <a:t>Simulated Dataset (10 Days)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628304"/>
            <a:ext cx="533400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475569"/>
                </a:solidFill>
                <a:latin typeface="Plus Jakarta Sans"/>
              </a:rPr>
              <a:t>10 days of network readings every 5 minutes with three injected failure types. A local script (ping, speedtest-cli) is included to collect real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519487"/>
            <a:ext cx="5600700" cy="262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b="1" sz="1800" i="0" u="none">
                <a:solidFill>
                  <a:srgbClr val="1D4ED8"/>
                </a:solidFill>
                <a:latin typeface="Space Grotesk"/>
              </a:rPr>
              <a:t>Tracked Telemetry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896617"/>
            <a:ext cx="5334000" cy="1294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475569"/>
                </a:solidFill>
                <a:latin typeface="Plus Jakarta Sans"/>
              </a:rPr>
              <a:t>• Latency (Ping) &amp; Jitter Dynamics</a:t>
            </a:r>
            <a:r>
              <a:t>
</a:t>
            </a:r>
            <a:r>
              <a:rPr b="0" sz="1275" i="0" u="none">
                <a:solidFill>
                  <a:srgbClr val="475569"/>
                </a:solidFill>
                <a:latin typeface="Plus Jakarta Sans"/>
              </a:rPr>
              <a:t> • Packet Loss Percentage</a:t>
            </a:r>
            <a:r>
              <a:t>
</a:t>
            </a:r>
            <a:r>
              <a:rPr b="0" sz="1275" i="0" u="none">
                <a:solidFill>
                  <a:srgbClr val="475569"/>
                </a:solidFill>
                <a:latin typeface="Plus Jakarta Sans"/>
              </a:rPr>
              <a:t> • Download &amp; Upload Throughput</a:t>
            </a:r>
            <a:r>
              <a:t>
</a:t>
            </a:r>
            <a:r>
              <a:rPr b="0" sz="1275" i="0" u="none">
                <a:solidFill>
                  <a:srgbClr val="475569"/>
                </a:solidFill>
                <a:latin typeface="Plus Jakarta Sans"/>
              </a:rPr>
              <a:t> • Wi-Fi Signal Strength (RSSI)</a:t>
            </a:r>
            <a:r>
              <a:t>
</a:t>
            </a:r>
            <a:r>
              <a:rPr b="0" sz="1275" i="0" u="none">
                <a:solidFill>
                  <a:srgbClr val="475569"/>
                </a:solidFill>
                <a:latin typeface="Plus Jakarta Sans"/>
              </a:rPr>
              <a:t> • Number of Active Connected Devices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43621"/>
            <a:ext cx="3530649" cy="246980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543621"/>
            <a:ext cx="3530649" cy="246980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543621"/>
            <a:ext cx="3530649" cy="246980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857946"/>
            <a:ext cx="571500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658046"/>
            <a:ext cx="3207119" cy="240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97"/>
              </a:lnSpc>
            </a:pPr>
            <a:r>
              <a:rPr b="1" sz="1650" i="0" u="none">
                <a:solidFill>
                  <a:srgbClr val="0F172A"/>
                </a:solidFill>
                <a:latin typeface="Space Grotesk"/>
              </a:rPr>
              <a:t>Preprocessing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4013299"/>
            <a:ext cx="305439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Handles missing logs, regularizes sampling timeframes, and standardizes continuous metric scales for ML models.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2857946"/>
            <a:ext cx="571500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68874" y="3658046"/>
            <a:ext cx="3207119" cy="240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97"/>
              </a:lnSpc>
            </a:pPr>
            <a:r>
              <a:rPr b="1" sz="1650" i="0" u="none">
                <a:solidFill>
                  <a:srgbClr val="0F172A"/>
                </a:solidFill>
                <a:latin typeface="Space Grotesk"/>
              </a:rPr>
              <a:t>Feature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8874" y="4013299"/>
            <a:ext cx="305439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Computes 10-minute rolling averages and rate-of-change delta features to capture latency trend momentum.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2857946"/>
            <a:ext cx="571500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8124" y="3658046"/>
            <a:ext cx="3207119" cy="240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97"/>
              </a:lnSpc>
            </a:pPr>
            <a:r>
              <a:rPr b="1" sz="1650" i="0" u="none">
                <a:solidFill>
                  <a:srgbClr val="0F172A"/>
                </a:solidFill>
                <a:latin typeface="Space Grotesk"/>
              </a:rPr>
              <a:t>Statistical PCA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8124" y="4013299"/>
            <a:ext cx="305439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Applies distribution analysis for health thresholds and Principal Component Analysis to remove redundant metrics.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2025" y="3010346"/>
            <a:ext cx="266700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21274" y="3010346"/>
            <a:ext cx="266700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61474" y="3010346"/>
            <a:ext cx="304800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3942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104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Methodology &amp; Feature Pipeline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87049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68698"/>
            <a:ext cx="5334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978223"/>
            <a:ext cx="5314950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1968698"/>
            <a:ext cx="50673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Plus Jakarta Sans"/>
              </a:rPr>
              <a:t>Unsupervised Clustering (K-Means / DBSCAN):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Clusters unlabelled time windows into distinct states like "Normal", "High Congestion", and "Interference Heavy".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892623"/>
            <a:ext cx="50673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Plus Jakarta Sans"/>
              </a:rPr>
              <a:t>Early Warning System (Logistic Regression / SVM):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Binary classification predicting whether a connection will degrade in the next 5–10 minutes.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816548"/>
            <a:ext cx="50673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Plus Jakarta Sans"/>
              </a:rPr>
              <a:t>Root Cause Classifier (Decision Trees &amp; Ensembles):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Multi-class trees isolating specific failure modes to deliver actionable user guidance.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76250"/>
            <a:ext cx="11601450" cy="3942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104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Machine Learning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87049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87748"/>
            <a:ext cx="13335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911673"/>
            <a:ext cx="13335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35598"/>
            <a:ext cx="13335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83073"/>
            <a:ext cx="5334000" cy="2190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2500" y="3064073"/>
            <a:ext cx="4572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b="0" sz="8250" i="0" u="none">
                <a:solidFill>
                  <a:srgbClr val="FFFFFF"/>
                </a:solidFill>
                <a:latin typeface="Space Grotesk ExtraBold"/>
              </a:rPr>
              <a:t>0.99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4226123"/>
            <a:ext cx="4572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FFFFFF"/>
                </a:solidFill>
                <a:latin typeface="Plus Jakarta Sans SemiBold"/>
              </a:rPr>
              <a:t>Degradation Prediction Accuracy (Simulated Data)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2732930"/>
            <a:ext cx="5600700" cy="204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14"/>
              </a:lnSpc>
            </a:pPr>
            <a:r>
              <a:rPr b="1" sz="1404" i="0" u="none">
                <a:solidFill>
                  <a:srgbClr val="0F172A"/>
                </a:solidFill>
                <a:latin typeface="Space Grotesk"/>
              </a:rPr>
              <a:t>System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2937867"/>
            <a:ext cx="5334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• </a:t>
            </a:r>
            <a:r>
              <a:rPr b="1" sz="1350" i="0" u="none">
                <a:solidFill>
                  <a:srgbClr val="475569"/>
                </a:solidFill>
                <a:latin typeface="Plus Jakarta Sans"/>
              </a:rPr>
              <a:t>Proactive Alerts: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Gives users a 5–10 minute lead time before noticeable video buffer or connection loss.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566517"/>
            <a:ext cx="5334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• </a:t>
            </a:r>
            <a:r>
              <a:rPr b="1" sz="1350" i="0" u="none">
                <a:solidFill>
                  <a:srgbClr val="475569"/>
                </a:solidFill>
                <a:latin typeface="Plus Jakarta Sans"/>
              </a:rPr>
              <a:t>Actionable Intelligence: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Directly informs whether to switch Wi-Fi bands (2.4 GHz vs 5 GHz), restart the router, or call the ISP.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4195167"/>
            <a:ext cx="5334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• </a:t>
            </a:r>
            <a:r>
              <a:rPr b="1" sz="1350" i="0" u="none">
                <a:solidFill>
                  <a:srgbClr val="475569"/>
                </a:solidFill>
                <a:latin typeface="Plus Jakarta Sans"/>
              </a:rPr>
              <a:t>Low Overhead: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Lightweight Python daemon running quietly in the background with negligible RAM/CPU footprint.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76250"/>
            <a:ext cx="11601450" cy="3942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104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Target Outcomes &amp; Metrics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87049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240160"/>
            <a:ext cx="11049000" cy="30765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240160"/>
          <a:ext cx="11029949" cy="3076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209800"/>
                <a:gridCol w="4313932"/>
                <a:gridCol w="4506217"/>
              </a:tblGrid>
              <a:tr h="61531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Space Grotesk"/>
                        </a:rPr>
                        <a:t>Root Cause Category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Space Grotesk"/>
                        </a:rPr>
                        <a:t>Key Telemetry Signature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Space Grotesk"/>
                        </a:rPr>
                        <a:t>Recommended Diagnostic Action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615315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Wi-Fi Interference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Drop in RSSI signal, spike in local jitter, stable ISP ping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Switch Wi-Fi channels or move closer to access point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15315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ISP Congestion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Elevated external latency &amp; packet loss, normal RSSI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Flag external ISP node congestion or regional outage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15315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Bandwidth Overload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Maxed upload/download speeds, spike in latency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Identify high-consumption device on local LAN network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15315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Hardware / Router Fault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Complete packet loss across local gateway, drops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Trigger automated local router reboot sequence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849760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90825" y="2849760"/>
            <a:ext cx="43139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04757" y="2849760"/>
            <a:ext cx="45062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1025" y="3464123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90825" y="3464123"/>
            <a:ext cx="43139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04757" y="3464123"/>
            <a:ext cx="45062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1025" y="4078485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0825" y="4078485"/>
            <a:ext cx="43139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04757" y="4078485"/>
            <a:ext cx="45062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1025" y="4692848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90825" y="4692848"/>
            <a:ext cx="43139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04757" y="4692848"/>
            <a:ext cx="45062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3030735"/>
            <a:ext cx="1295400" cy="261937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3645098"/>
            <a:ext cx="1104900" cy="261937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4259460"/>
            <a:ext cx="1438275" cy="261937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4873823"/>
            <a:ext cx="1628775" cy="26193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71500" y="476250"/>
            <a:ext cx="11601450" cy="3942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104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Root-Cause Diagnostic Matrix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87049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759398"/>
            <a:ext cx="11049000" cy="38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45148"/>
            <a:ext cx="2430660" cy="127337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4180" y="2238375"/>
            <a:ext cx="2430660" cy="127337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6860" y="4045148"/>
            <a:ext cx="2430660" cy="127337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9541" y="2238375"/>
            <a:ext cx="2430660" cy="12733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0759" y="4245173"/>
            <a:ext cx="2132141" cy="197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52"/>
              </a:lnSpc>
            </a:pPr>
            <a:r>
              <a:rPr b="1" sz="1350" i="0" u="none">
                <a:solidFill>
                  <a:srgbClr val="1D4ED8"/>
                </a:solidFill>
                <a:latin typeface="Space Grotesk"/>
              </a:rPr>
              <a:t>Phase 1: Telemetry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518421"/>
            <a:ext cx="203061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Deploy Python logging scripts over 1–2 weeks to capture raw network logs.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440" y="2438400"/>
            <a:ext cx="2132141" cy="197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52"/>
              </a:lnSpc>
            </a:pPr>
            <a:r>
              <a:rPr b="1" sz="1350" i="0" u="none">
                <a:solidFill>
                  <a:srgbClr val="1D4ED8"/>
                </a:solidFill>
                <a:latin typeface="Space Grotesk"/>
              </a:rPr>
              <a:t>Phase 2: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4205" y="2711648"/>
            <a:ext cx="203061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Clean logs, engineer rolling trend metrics, and perform PCA dimensionality reduction.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6120" y="4245173"/>
            <a:ext cx="2132141" cy="197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52"/>
              </a:lnSpc>
            </a:pPr>
            <a:r>
              <a:rPr b="1" sz="1350" i="0" u="none">
                <a:solidFill>
                  <a:srgbClr val="1D4ED8"/>
                </a:solidFill>
                <a:latin typeface="Space Grotesk"/>
              </a:rPr>
              <a:t>Phase 3: Modeling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6885" y="4518421"/>
            <a:ext cx="203061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Train &amp; evaluate SVM, Logistic Regression, and Decision Tree classifiers.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8801" y="2438400"/>
            <a:ext cx="2132141" cy="197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52"/>
              </a:lnSpc>
            </a:pPr>
            <a:r>
              <a:rPr b="1" sz="1350" i="0" u="none">
                <a:solidFill>
                  <a:srgbClr val="1D4ED8"/>
                </a:solidFill>
                <a:latin typeface="Space Grotesk"/>
              </a:rPr>
              <a:t>Phase 4: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89566" y="2711648"/>
            <a:ext cx="203061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Build real-time monitoring dashboard with background early-warning agent.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3942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104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Implementation Roadmap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87049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91580" y="368319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64260" y="368319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36941" y="368319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309621" y="368319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476250"/>
            <a:ext cx="11601450" cy="78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6209"/>
              </a:lnSpc>
            </a:pPr>
            <a:r>
              <a:rPr b="1" sz="5400" i="0" u="none">
                <a:solidFill>
                  <a:srgbClr val="0F172A"/>
                </a:solidFill>
                <a:latin typeface="Space Grotesk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417290"/>
            <a:ext cx="11049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475569"/>
                </a:solidFill>
                <a:latin typeface="Plus Jakarta Sans"/>
              </a:rPr>
              <a:t>Internet Connection Quality Predictor &amp; Root-Cause Classifier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650" y="2455515"/>
            <a:ext cx="219075" cy="171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96025" y="2417415"/>
            <a:ext cx="107632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0F172A"/>
                </a:solidFill>
                <a:latin typeface="Plus Jakarta Sans Black"/>
              </a:rPr>
              <a:t>Saria Nayyar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009775" y="3011685"/>
            <a:ext cx="81724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09775" y="3773685"/>
            <a:ext cx="81724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09775" y="3773685"/>
            <a:ext cx="81724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9775" y="315456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05150" y="3161704"/>
            <a:ext cx="70770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https://images.surferseo.art/d9312535-a58d-424d-9430-43d7ced3a950.png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5150" y="3395067"/>
            <a:ext cx="70770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www.ir.com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9775" y="3926085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105150" y="3933229"/>
            <a:ext cx="70770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https://media.geeksforgeeks.org/wp-content/uploads/20251124151113659326/the_machine_learning_process.webp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150" y="4166592"/>
            <a:ext cx="70770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www.geeksforgeeks.org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3942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104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Image 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87049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