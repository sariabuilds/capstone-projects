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PRISM-DR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E3DF"/>
                </a:solidFill>
              </a:rPr>
              <a:t>Precision Medicine &amp; Antimicrobial Resistance (AMR) Decision Support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5F0"/>
                </a:solidFill>
              </a:rPr>
              <a:t>An integrated 5-module AI platform for oncology treatment planning and AMR surveillance, delivered as one Streamlit dashboard.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Presented by Saria Nayyar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 AI modules  |  One dashboard  |  Decision support only, requires clinician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Clinical Need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383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</a:rPr>
              <a:t>Variable chemotherapy response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Standard regimens are often given without biomarker-based stratification, causing toxicity and low efficacy for some patients.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383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</a:rPr>
              <a:t>Rising antimicrobial resistance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0116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Delayed pathogen identification leads to poor empiric antibiotic prescribing, which speeds up resistance worldwide.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383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</a:rPr>
              <a:t>Our solution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116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PRISM-DR combines ML prediction, CNN histopathology, YOLOv8 pathogen screening, LSTM resistance forecasting and RAG guideline search in one workflow.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Impact &amp; Implementability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292608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292608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C"/>
                </a:solidFill>
              </a:rPr>
              <a:t>Why it matters for Khyber Pakhtunkhwa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173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Limited specialist access in rural and underserved districts: image and risk screening can support triage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Rising antimicrobial resistance threatens routine treatment: forecasting supports hospital stewardship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Busy clinicians need fast, source-cited guideline answers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292608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64008" cy="2926080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Why it is implementable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173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Open datasets: TCGA, WHO GLASS, public image sets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Free open-source stack: Python, PyTorch, Streamlit, free Groq tier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Runs on a standard CPU laptop, no GPU needed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Modular: each module can be deployed on its own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3DF"/>
                </a:solidFill>
              </a:rPr>
              <a:t>Positioning: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 low-cost clinical decision-support prototype for clinicians, not a diagnostic tool.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438912"/>
          </a:xfrm>
          <a:prstGeom prst="rect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0058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005840"/>
            <a:ext cx="64922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00584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Streamlit web dashboard with 5 tabs (M1 to M5): sliders, image uploaders, text 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1920240" cy="438912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53619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M1 Predictor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536192"/>
            <a:ext cx="64922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153619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Classical ML (scikit-learn) on TCGA clinical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66544"/>
            <a:ext cx="1920240" cy="438912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0665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M2 Classifier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2066544"/>
            <a:ext cx="64922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206654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PyTorch ResNet-18 transfer learning on histopathology images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1920240" cy="438912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259689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M3 Pathogens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2596896"/>
            <a:ext cx="64922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23160" y="2596896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YOLOv8 object detection (m3_best.pt)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27248"/>
            <a:ext cx="1920240" cy="438912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31272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M4 Forecaster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3127248"/>
            <a:ext cx="64922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23160" y="312724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PyTorch LSTM on WHO GLASS resistance time series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1920240" cy="438912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36576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M5 Assistant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3657600"/>
            <a:ext cx="64922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23160" y="36576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RAG: vector search over WHO and oncology PDFs, LLM answers with source citations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87952"/>
            <a:ext cx="1920240" cy="438912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5760" y="41879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0" y="4187952"/>
            <a:ext cx="6492240" cy="438912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4187952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Python virtual environment, Jupyter notebooks, GitHub (SariaBuilds/prism-dr)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Chemotherapy Response Predictor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M1 Method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291840" cy="288036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28803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C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TCGA (The Cancer Genome Atlas) pan-cancer clinical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Patients with recorded chemotherapy response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Covers multiple cancer types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Method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141732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371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Load TCGA patient records and response outcome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05740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Clean data, select clinical features (age, dosage, subtype, biomarker)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31920" y="269748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Train a scikit-learn classifier, test on held-out patients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31920" y="333756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291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Output a response probability: Responder / Non-responder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3DF"/>
                </a:solidFill>
              </a:rPr>
              <a:t>How the prediction works: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The model compares the entered patient profile with patterns learned from past TCGA patients and returns a probability of response. Test ROC-AUC: 0.735.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Chemotherapy Response Predictor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M1 Demo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" y="932688"/>
            <a:ext cx="8485632" cy="2877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FDC"/>
            </a:solidFill>
            <a:prstDash val="solid"/>
          </a:ln>
        </p:spPr>
      </p:sp>
      <p:pic>
        <p:nvPicPr>
          <p:cNvPr id="7" name="Image 0" descr="/home/claude/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9264"/>
            <a:ext cx="8412480" cy="2804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391058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F8A"/>
                </a:solidFill>
              </a:rPr>
              <a:t>Screenshot: M1 tab: patient inputs and predicted outcome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Histopathology Classifier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M2 Method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291840" cy="288036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28803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C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Multi-cancer histopathology image dataset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8 classes: ALL, Brain, Breast, Cervical, Kidney, Lung &amp; Colon, Lymphoma, Oral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Sample size: 1,200 images (150 per class), split 960 train / 240 test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Method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141732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371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Resize to 224x224, normalize, augment (flip, rotate)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05740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Start from ResNet-18 pretrained on ImageNet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31920" y="269748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Freeze early layers, fine-tune last block + new 8-class layer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31920" y="333756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291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Train 3 epochs (loss 0.357 to 0.047), evaluate on test set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3DF"/>
                </a:solidFill>
              </a:rPr>
              <a:t>Result: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0.99 accuracy and 0.99 macro F1 on 240 unseen test images.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Histopathology Classifier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M2 Demo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69142" y="932688"/>
            <a:ext cx="6005716" cy="3319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FDC"/>
            </a:solidFill>
            <a:prstDash val="solid"/>
          </a:ln>
        </p:spPr>
      </p:sp>
      <p:pic>
        <p:nvPicPr>
          <p:cNvPr id="7" name="Image 0" descr="/home/claude/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718" y="969264"/>
            <a:ext cx="5932564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F8A"/>
                </a:solidFill>
              </a:rPr>
              <a:t>Screenshot: M2 tab: uploaded slide and classification result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Pathogen Screening (YOLOv8)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M3 Method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291840" cy="288036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28803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C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Microscopy images of 5 pathogen species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A. baumannii, E. faecalis, E. coli, P. aeruginosa, S. aureus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Split 70% train / 20% validation / 10% test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Method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141732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371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Prepare labeled images in YOLO format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05740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Resize to 640x640 and augment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31920" y="269748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Fine-tune pretrained YOLOv8n for 25 epochs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31920" y="333756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291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Save best weights (m3_best.pt) and load in the dashboard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3DF"/>
                </a:solidFill>
              </a:rPr>
              <a:t>Output: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Species-based resistance alert (species known for carbapenem resistance), flagged for lab confirmation. Next: live image upload.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Pathogen Screening (YOLOv8)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M3 Demo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" y="932688"/>
            <a:ext cx="8485632" cy="2807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CFDC"/>
            </a:solidFill>
            <a:prstDash val="solid"/>
          </a:ln>
        </p:spPr>
      </p:sp>
      <p:pic>
        <p:nvPicPr>
          <p:cNvPr id="7" name="Image 0" descr="/home/claude/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9264"/>
            <a:ext cx="8412480" cy="27340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F8A"/>
                </a:solidFill>
              </a:rPr>
              <a:t>Screenshot: M3 tab: pathogen screening and resistance alert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AMR Trend Forecaster (LSTM)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M4 Method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291840" cy="288036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28803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C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WHO GLASS (Global Antimicrobial Resistance Surveillance System)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Resistance % by country, year, pathogen and antibiotic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Method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141732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371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Clean data, average duplicates per country/year/pathogen/drug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05740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Sliding window: 3 past years predict the next year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31920" y="269748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Train an LSTM (32 units, MSE loss), 80/20 split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31920" y="333756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291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Forecast next-year resistance rate in the dashboard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3DF"/>
                </a:solidFill>
              </a:rPr>
              <a:t>Result: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The forecast (red dashed) follows the actual resistance trend (blue) closely.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AMR Trend Forecaster (LSTM)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M4 Demo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49262" y="932688"/>
            <a:ext cx="4445477" cy="3319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CFDC"/>
            </a:solidFill>
            <a:prstDash val="solid"/>
          </a:ln>
        </p:spPr>
      </p:sp>
      <p:pic>
        <p:nvPicPr>
          <p:cNvPr id="7" name="Image 0" descr="/home/claude/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5838" y="969264"/>
            <a:ext cx="4372325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F8A"/>
                </a:solidFill>
              </a:rPr>
              <a:t>Screenshot: M4 tab: actual vs LSTM forecast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Knowledge Assistant (RAG)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M5 Method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291840" cy="288036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288036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789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C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3017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WHO antimicrobial resistance and oncology guideline PDFs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Indexed into a searchable vector database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Method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141732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1371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Extract PDF text, split into 800-character chunks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05740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Store chunks in a ChromaDB vector database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31920" y="269748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Retrieve the top 4 chunks matching the query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31920" y="3337560"/>
            <a:ext cx="411480" cy="41148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291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Llama 3.3 70B (Groq) answers only from them, with source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E3DF"/>
                </a:solidFill>
              </a:rPr>
              <a:t>Output: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 guideline-based answer with its source document, so clinicians can verify it.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Knowledge Assistant (RAG)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228600"/>
            <a:ext cx="1280160" cy="320040"/>
          </a:xfrm>
          <a:prstGeom prst="rect">
            <a:avLst/>
          </a:prstGeom>
          <a:solidFill>
            <a:srgbClr val="0E8F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M5 Demo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" y="932688"/>
            <a:ext cx="848563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FDC"/>
            </a:solidFill>
            <a:prstDash val="solid"/>
          </a:ln>
        </p:spPr>
      </p:sp>
      <p:pic>
        <p:nvPicPr>
          <p:cNvPr id="7" name="Image 0" descr="/home/claude/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9264"/>
            <a:ext cx="8412480" cy="18928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2999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F8A"/>
                </a:solidFill>
              </a:rPr>
              <a:t>Screenshot: M5 tab: query and cited guideline answer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284C"/>
          </a:solidFill>
          <a:ln w="12700">
            <a:solidFill>
              <a:srgbClr val="1228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 Work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PRISM-DR | Decision support only, requires clinician review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C"/>
                </a:solidFill>
              </a:rPr>
              <a:t>Results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32588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All 5 modules working in one Streamlit dashboard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M1: chemotherapy response (ROC-AUC 0.735)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M2: 0.99 accuracy across 8 tissue classes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M3: YOLOv8 trained on 5 pathogens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M4: LSTM forecast tracks WHO GLASS trends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M5: guideline answers with sources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8A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Test on external datasets and real hospital data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Add live microscopy image upload to M3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Expand the guideline library for M5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Clinical pilot with clinician feedback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PRISM-DR</dc:title>
  <dc:subject>PptxGenJS Presentation</dc:subject>
  <dc:creator>PptxGenJS</dc:creator>
  <cp:lastModifiedBy>PptxGenJS</cp:lastModifiedBy>
  <cp:revision>1</cp:revision>
  <dcterms:created xsi:type="dcterms:W3CDTF">2026-10-03T12:02:03Z</dcterms:created>
  <dcterms:modified xsi:type="dcterms:W3CDTF">2026-10-03T12:02:03Z</dcterms:modified>
</cp:coreProperties>
</file>